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2067E-DE62-DB67-B045-E04A5473F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基于 ArceOS 的轻量级高性能防火墙 (axfirewall) 中期进展报告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FE5BFB-F7CC-CEF0-1080-F8119C83E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6799"/>
            <a:ext cx="9144000" cy="557349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李悠然</a:t>
            </a:r>
          </a:p>
        </p:txBody>
      </p:sp>
    </p:spTree>
    <p:extLst>
      <p:ext uri="{BB962C8B-B14F-4D97-AF65-F5344CB8AC3E}">
        <p14:creationId xmlns:p14="http://schemas.microsoft.com/office/powerpoint/2010/main" val="396037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A61B3-B6F7-04ED-AD4A-6E8EDF552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课题背景与痛点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CF2234-5A77-A35A-F118-442DD6735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/>
                <a:r>
                  <a:rPr lang="zh-CN" altLang="zh-CN" b="1" dirty="0"/>
                  <a:t>痛点 1：传统防火墙算法性能退化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Linux iptables 依赖链式线性比对，复杂度为 </a:t>
                </a:r>
                <a14:m>
                  <m:oMath xmlns:m="http://schemas.openxmlformats.org/officeDocument/2006/math">
                    <m:r>
                      <a:rPr lang="zh-CN" altLang="en-US" i="1"/>
                      <m:t>𝑂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𝑁</m:t>
                        </m:r>
                      </m:e>
                    </m:d>
                  </m:oMath>
                </a14:m>
                <a:r>
                  <a:rPr lang="zh-CN" altLang="zh-CN" dirty="0"/>
                  <a:t>；</a:t>
                </a:r>
              </a:p>
              <a:p>
                <a:pPr lvl="1"/>
                <a:r>
                  <a:rPr lang="zh-CN" altLang="zh-CN" dirty="0"/>
                  <a:t>规则数量膨胀至数百上千条时，单包分类时延激增，网络吞吐大幅下降。 </a:t>
                </a:r>
              </a:p>
              <a:p>
                <a:pPr lvl="0"/>
                <a:r>
                  <a:rPr lang="zh-CN" altLang="zh-CN" b="1" dirty="0"/>
                  <a:t>痛点 2：Unikernel 环境的极致性能诉求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ArceOS 具有微秒级启动和单地址空间特性，传统庞大的网络过滤栈无法直接迁移；</a:t>
                </a:r>
              </a:p>
              <a:p>
                <a:pPr lvl="1"/>
                <a:r>
                  <a:rPr lang="zh-CN" altLang="zh-CN" dirty="0"/>
                  <a:t>亟需一套原生、no_std、极速的多维包分类子系统。</a:t>
                </a:r>
              </a:p>
              <a:p>
                <a:pPr lvl="0"/>
                <a:r>
                  <a:rPr lang="zh-CN" altLang="zh-CN" b="1" dirty="0"/>
                  <a:t>解决思路：汲取 SIGCOMM CCR 2019 论文核心思想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在驱动交界处零拷贝拦截；</a:t>
                </a:r>
              </a:p>
              <a:p>
                <a:pPr lvl="1"/>
                <a:r>
                  <a:rPr lang="zh-CN" altLang="zh-CN" dirty="0"/>
                  <a:t>利用线性位向量搜索（LBVS）实现规则判定指令级并行； </a:t>
                </a:r>
              </a:p>
              <a:p>
                <a:pPr lvl="1"/>
                <a:r>
                  <a:rPr lang="zh-CN" altLang="zh-CN" dirty="0"/>
                  <a:t>利用 </a:t>
                </a:r>
                <a:r>
                  <a:rPr lang="zh-CN" altLang="zh-CN" b="1" dirty="0"/>
                  <a:t>Early-Break</a:t>
                </a:r>
                <a:r>
                  <a:rPr lang="zh-CN" altLang="zh-CN" dirty="0"/>
                  <a:t> 机制实现恶意探测流量快速阻断。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CF2234-5A77-A35A-F118-442DD6735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r="-1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34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863E2-BBEE-FA8E-9CAC-44EE7A0A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整体架构与设计亮点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37047A-903A-9C6A-8B18-5158DF095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核心模块划分</a:t>
            </a:r>
            <a:r>
              <a:rPr lang="zh-CN" altLang="zh-CN" dirty="0"/>
              <a:t>：</a:t>
            </a:r>
          </a:p>
          <a:p>
            <a:pPr lvl="0"/>
            <a:r>
              <a:rPr lang="zh-CN" altLang="zh-CN" b="1" dirty="0"/>
              <a:t>驱动挂载层</a:t>
            </a:r>
            <a:r>
              <a:rPr lang="zh-CN" altLang="zh-CN" dirty="0"/>
              <a:t>：在 RxToken::consume 处挂载，零拷贝提取协议五元组，丢弃报文安全回收环形缓冲区描述符。</a:t>
            </a:r>
          </a:p>
          <a:p>
            <a:pPr lvl="0"/>
            <a:r>
              <a:rPr lang="zh-CN" altLang="zh-CN" b="1" dirty="0"/>
              <a:t>规则管理器 (RuleManager)</a:t>
            </a:r>
            <a:r>
              <a:rPr lang="zh-CN" altLang="zh-CN" dirty="0"/>
              <a:t>：基于 spin::Mutex 维护内核全局单例，实现控制面（规则编译构建）与数据面（只读快速分类）完全解耦。</a:t>
            </a:r>
          </a:p>
          <a:p>
            <a:pPr lvl="0"/>
            <a:r>
              <a:rPr lang="zh-CN" altLang="zh-CN" b="1" dirty="0"/>
              <a:t>哈希多维索引</a:t>
            </a:r>
            <a:r>
              <a:rPr lang="zh-CN" altLang="zh-CN" dirty="0"/>
              <a:t>：目的端口与 IP 采用 256 桶轻量哈希映射，消除键查找阶段的线性开销。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3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18A02-3591-5554-8C9C-E2975EAE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核心算法——LBVS 与 Early-Break 机制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E4F24C-69AF-7B20-78AD-7E0CA8C79E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zh-CN" altLang="zh-CN" b="1" dirty="0"/>
                  <a:t>LBVS（Linear Bit-Vector Search）原理</a:t>
                </a:r>
                <a:r>
                  <a:rPr lang="zh-CN" altLang="zh-CN" dirty="0"/>
                  <a:t>：</a:t>
                </a:r>
              </a:p>
              <a:p>
                <a:pPr lvl="1"/>
                <a:r>
                  <a:rPr lang="zh-CN" altLang="zh-CN" dirty="0"/>
                  <a:t>将 1024 条规则抽象为 BitVector1024（16 个 u64，仅占 128 字节</a:t>
                </a:r>
                <a:r>
                  <a:rPr lang="zh-CN" altLang="en-US" dirty="0"/>
                  <a:t>）</a:t>
                </a:r>
                <a:r>
                  <a:rPr lang="zh-CN" altLang="zh-CN" dirty="0"/>
                  <a:t>；</a:t>
                </a:r>
              </a:p>
              <a:p>
                <a:pPr lvl="1"/>
                <a:r>
                  <a:rPr lang="zh-CN" altLang="zh-CN" b="1" dirty="0"/>
                  <a:t>位级并行（Bit-level Parallelism）</a:t>
                </a:r>
                <a:r>
                  <a:rPr lang="zh-CN" altLang="zh-CN" dirty="0"/>
                  <a:t>：一条 64 位 CPU AND 指令单周期裁决 64 条规则，1024 条规则仅需 16 次标量循环；</a:t>
                </a:r>
              </a:p>
              <a:p>
                <a:pPr lvl="1"/>
                <a:r>
                  <a:rPr lang="zh-CN" altLang="zh-CN" b="1" dirty="0"/>
                  <a:t>CPU 硬件加速</a:t>
                </a:r>
                <a:r>
                  <a:rPr lang="zh-CN" altLang="zh-CN" dirty="0"/>
                  <a:t>：调用 trailing_zeros() 硬件指令，快速寻找最高优先级置 1 规则。</a:t>
                </a:r>
              </a:p>
              <a:p>
                <a:pPr lvl="0"/>
                <a:r>
                  <a:rPr lang="zh-CN" altLang="zh-CN" b="1" dirty="0"/>
                  <a:t>Early-Break 短路执行优化</a:t>
                </a:r>
                <a:r>
                  <a:rPr lang="zh-CN" altLang="zh-CN" dirty="0"/>
                  <a:t>：</a:t>
                </a:r>
              </a:p>
              <a:p>
                <a:pPr lvl="1"/>
                <a:r>
                  <a:rPr lang="zh-CN" altLang="zh-CN" dirty="0"/>
                  <a:t>检查步骤：目的端口 </a:t>
                </a:r>
                <a14:m>
                  <m:oMath xmlns:m="http://schemas.openxmlformats.org/officeDocument/2006/math">
                    <m:r>
                      <a:rPr lang="zh-CN" altLang="en-US"/>
                      <m:t>→</m:t>
                    </m:r>
                  </m:oMath>
                </a14:m>
                <a:r>
                  <a:rPr lang="zh-CN" altLang="zh-CN" dirty="0"/>
                  <a:t>协议 </a:t>
                </a:r>
                <a14:m>
                  <m:oMath xmlns:m="http://schemas.openxmlformats.org/officeDocument/2006/math">
                    <m:r>
                      <a:rPr lang="zh-CN" altLang="en-US"/>
                      <m:t>→</m:t>
                    </m:r>
                  </m:oMath>
                </a14:m>
                <a:r>
                  <a:rPr lang="zh-CN" altLang="zh-CN" dirty="0"/>
                  <a:t>目的 IP </a:t>
                </a:r>
                <a14:m>
                  <m:oMath xmlns:m="http://schemas.openxmlformats.org/officeDocument/2006/math">
                    <m:r>
                      <a:rPr lang="zh-CN" altLang="en-US"/>
                      <m:t>→</m:t>
                    </m:r>
                  </m:oMath>
                </a14:m>
                <a:r>
                  <a:rPr lang="zh-CN" altLang="zh-CN" dirty="0"/>
                  <a:t>Action Lookup；</a:t>
                </a:r>
              </a:p>
              <a:p>
                <a:pPr lvl="1"/>
                <a:r>
                  <a:rPr lang="zh-CN" altLang="zh-CN" dirty="0"/>
                  <a:t>某步骤若中间位向量全 0，立即触发短路退出，杜绝后续多维运算。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E4F24C-69AF-7B20-78AD-7E0CA8C79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20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82961-D96D-3E1F-71B1-9F0C4510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实验一——规则规模扩展性基准对比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AE42AE0-9DA6-E5C5-5B7D-DF16BEB20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256812"/>
              </p:ext>
            </p:extLst>
          </p:nvPr>
        </p:nvGraphicFramePr>
        <p:xfrm>
          <a:off x="768532" y="1690688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433863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606420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79358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58337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规则数 (N)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传统线性遍历 (Cycles)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LBVS 位向量匹配 (Cycles)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性能加速比 (Speedup)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1139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10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 dirty="0">
                          <a:effectLst/>
                        </a:rPr>
                        <a:t>322</a:t>
                      </a:r>
                      <a:endParaRPr lang="zh-CN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664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0.48x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0497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50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1,098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 dirty="0">
                          <a:effectLst/>
                        </a:rPr>
                        <a:t>553</a:t>
                      </a:r>
                      <a:endParaRPr lang="zh-CN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1.99x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60770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100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 dirty="0">
                          <a:effectLst/>
                        </a:rPr>
                        <a:t>2,072</a:t>
                      </a:r>
                      <a:endParaRPr lang="zh-CN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550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3.77x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6417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500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10,162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533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19.07x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8937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1000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20,265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>
                          <a:effectLst/>
                        </a:rPr>
                        <a:t>536</a:t>
                      </a:r>
                      <a:endParaRPr lang="zh-CN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zh-CN" dirty="0">
                          <a:effectLst/>
                        </a:rPr>
                        <a:t>37.81x</a:t>
                      </a:r>
                      <a:endParaRPr lang="zh-CN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007166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6913204-CAB0-4ABA-2462-9E491B63A4D7}"/>
                  </a:ext>
                </a:extLst>
              </p:cNvPr>
              <p:cNvSpPr txBox="1"/>
              <p:nvPr/>
            </p:nvSpPr>
            <p:spPr>
              <a:xfrm>
                <a:off x="1349829" y="4911634"/>
                <a:ext cx="81846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zh-CN" dirty="0"/>
                  <a:t>传统线性遍历随规则数增加呈明显的 </a:t>
                </a:r>
                <a14:m>
                  <m:oMath xmlns:m="http://schemas.openxmlformats.org/officeDocument/2006/math">
                    <m:r>
                      <a:rPr lang="zh-CN" altLang="en-US" i="1"/>
                      <m:t>𝑂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𝑁</m:t>
                        </m:r>
                      </m:e>
                    </m:d>
                  </m:oMath>
                </a14:m>
                <a:r>
                  <a:rPr lang="zh-CN" altLang="zh-CN" dirty="0"/>
                  <a:t>线性恶化；</a:t>
                </a:r>
              </a:p>
              <a:p>
                <a:pPr lvl="0"/>
                <a:r>
                  <a:rPr lang="zh-CN" altLang="zh-CN" dirty="0"/>
                  <a:t>本项目实现的 LBVS 耗时平稳保持在 </a:t>
                </a:r>
                <a:r>
                  <a:rPr lang="zh-CN" altLang="zh-CN" b="1" dirty="0"/>
                  <a:t>~536 cycles</a:t>
                </a:r>
                <a:r>
                  <a:rPr lang="zh-CN" altLang="zh-CN" dirty="0"/>
                  <a:t>，展现严格的 </a:t>
                </a:r>
                <a14:m>
                  <m:oMath xmlns:m="http://schemas.openxmlformats.org/officeDocument/2006/math">
                    <m:r>
                      <a:rPr lang="zh-CN" altLang="en-US" i="1"/>
                      <m:t>𝑂</m:t>
                    </m:r>
                    <m:d>
                      <m:dPr>
                        <m:ctrlPr>
                          <a:rPr lang="zh-CN" altLang="en-US"/>
                        </m:ctrlPr>
                      </m:dPr>
                      <m:e>
                        <m:r>
                          <a:rPr lang="zh-CN" altLang="en-US"/>
                          <m:t>1</m:t>
                        </m:r>
                      </m:e>
                    </m:d>
                  </m:oMath>
                </a14:m>
                <a:r>
                  <a:rPr lang="zh-CN" altLang="zh-CN" b="1" dirty="0"/>
                  <a:t>常数级特征</a:t>
                </a:r>
                <a:r>
                  <a:rPr lang="zh-CN" altLang="zh-CN" dirty="0"/>
                  <a:t>；</a:t>
                </a:r>
              </a:p>
              <a:p>
                <a:pPr lvl="0"/>
                <a:r>
                  <a:rPr lang="zh-CN" altLang="zh-CN" dirty="0"/>
                  <a:t>在 1000 条规则下取得了 </a:t>
                </a:r>
                <a:r>
                  <a:rPr lang="zh-CN" altLang="zh-CN" b="1" dirty="0"/>
                  <a:t>37.81 倍</a:t>
                </a:r>
                <a:r>
                  <a:rPr lang="zh-CN" altLang="zh-CN" dirty="0"/>
                  <a:t> 的显著加速比。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6913204-CAB0-4ABA-2462-9E491B63A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829" y="4911634"/>
                <a:ext cx="8184613" cy="1200329"/>
              </a:xfrm>
              <a:prstGeom prst="rect">
                <a:avLst/>
              </a:prstGeom>
              <a:blipFill>
                <a:blip r:embed="rId2"/>
                <a:stretch>
                  <a:fillRect l="-596" t="-3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53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45102-00AE-9AB5-754A-F2BA862A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实验二——Early-Break 短路与端到端拦截验证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F3137-B51B-7ACD-F68F-5B01F6FC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b="1" dirty="0"/>
              <a:t>Early-Break 短路收益验证（1000 条多维规则）</a:t>
            </a:r>
            <a:r>
              <a:rPr lang="zh-CN" altLang="zh-CN" dirty="0"/>
              <a:t>：</a:t>
            </a:r>
          </a:p>
          <a:p>
            <a:pPr lvl="1"/>
            <a:r>
              <a:rPr lang="zh-CN" altLang="zh-CN" dirty="0"/>
              <a:t>全流水线合法匹配耗时：547 cycles</a:t>
            </a:r>
          </a:p>
          <a:p>
            <a:pPr lvl="1"/>
            <a:r>
              <a:rPr lang="zh-CN" altLang="zh-CN" dirty="0"/>
              <a:t>扫描/探测报文短路耗时：152 cycles</a:t>
            </a:r>
          </a:p>
          <a:p>
            <a:pPr lvl="1"/>
            <a:r>
              <a:rPr lang="zh-CN" altLang="zh-CN" b="1" dirty="0"/>
              <a:t>计算开销削减比例：72.2%</a:t>
            </a:r>
            <a:endParaRPr lang="en-US" altLang="zh-CN" b="1" dirty="0"/>
          </a:p>
          <a:p>
            <a:pPr lvl="1"/>
            <a:r>
              <a:rPr lang="zh-CN" altLang="zh-CN" b="1" dirty="0"/>
              <a:t>价值</a:t>
            </a:r>
            <a:r>
              <a:rPr lang="zh-CN" altLang="zh-CN" dirty="0"/>
              <a:t>：面对端口扫描与 DDoS 流量，在第一维即瞬间阻断，大幅提升系统吞吐抗压能力。</a:t>
            </a:r>
          </a:p>
          <a:p>
            <a:pPr lvl="0"/>
            <a:r>
              <a:rPr lang="zh-CN" altLang="zh-CN" b="1" dirty="0"/>
              <a:t>系统端到端功能验证</a:t>
            </a:r>
            <a:r>
              <a:rPr lang="zh-CN" altLang="zh-CN" dirty="0"/>
              <a:t>：</a:t>
            </a:r>
          </a:p>
          <a:p>
            <a:pPr lvl="1"/>
            <a:r>
              <a:rPr lang="zh-CN" altLang="zh-CN" dirty="0"/>
              <a:t>在 httpserver 实例中成功阻断外部发起的恶意端口（5555）请求；</a:t>
            </a:r>
          </a:p>
          <a:p>
            <a:pPr lvl="1"/>
            <a:r>
              <a:rPr lang="zh-CN" altLang="zh-CN" dirty="0"/>
              <a:t>精准记录 TCP SYN 重传与指数退避轨迹，无误杀、无描述符泄漏。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640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61A3E-DE8E-EC87-B0F4-C9EFCBCF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后半期工作规划与总结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63F141-F1BE-6240-0D37-003253CC1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zh-CN" altLang="zh-CN" b="1" dirty="0"/>
                  <a:t>阶段性总结</a:t>
                </a:r>
                <a:r>
                  <a:rPr lang="zh-CN" altLang="zh-CN" dirty="0"/>
                  <a:t>：</a:t>
                </a:r>
              </a:p>
              <a:p>
                <a:pPr marL="457200" lvl="1" indent="0">
                  <a:buNone/>
                </a:pPr>
                <a:r>
                  <a:rPr lang="zh-CN" altLang="zh-CN" dirty="0"/>
                  <a:t>实现了基于 LBVS 的高效引擎与控制面解耦，达成 </a:t>
                </a:r>
                <a14:m>
                  <m:oMath xmlns:m="http://schemas.openxmlformats.org/officeDocument/2006/math">
                    <m:r>
                      <a:rPr lang="zh-CN" altLang="en-US" i="1"/>
                      <m:t>𝑂</m:t>
                    </m:r>
                    <m:d>
                      <m:dPr>
                        <m:ctrlPr>
                          <a:rPr lang="zh-CN" altLang="en-US"/>
                        </m:ctrlPr>
                      </m:dPr>
                      <m:e>
                        <m:r>
                          <a:rPr lang="zh-CN" altLang="en-US"/>
                          <m:t>1</m:t>
                        </m:r>
                      </m:e>
                    </m:d>
                  </m:oMath>
                </a14:m>
                <a:r>
                  <a:rPr lang="zh-CN" altLang="zh-CN" dirty="0"/>
                  <a:t>分类与 72.2% 短路优化收益。 </a:t>
                </a:r>
              </a:p>
              <a:p>
                <a:pPr lvl="0"/>
                <a:r>
                  <a:rPr lang="zh-CN" altLang="zh-CN" b="1" dirty="0"/>
                  <a:t>后续目标</a:t>
                </a:r>
                <a:r>
                  <a:rPr lang="zh-CN" altLang="zh-CN" dirty="0"/>
                  <a:t>：</a:t>
                </a:r>
              </a:p>
              <a:p>
                <a:pPr lvl="1"/>
                <a:r>
                  <a:rPr lang="zh-CN" altLang="zh-CN" b="1" dirty="0"/>
                  <a:t>有状态连接跟踪（Stateful Conntrack）</a:t>
                </a:r>
                <a:r>
                  <a:rPr lang="zh-CN" altLang="zh-CN" dirty="0"/>
                  <a:t>：实现双向五元组归一化键与 TCP 状态机；</a:t>
                </a:r>
              </a:p>
              <a:p>
                <a:pPr lvl="1"/>
                <a:r>
                  <a:rPr lang="zh-CN" altLang="zh-CN" b="1" dirty="0"/>
                  <a:t>ESTABLISHED 直通快速路径（Fast Path）</a:t>
                </a:r>
                <a:r>
                  <a:rPr lang="zh-CN" altLang="zh-CN" dirty="0"/>
                  <a:t>：建连报文绕过大规则库直接放行；</a:t>
                </a:r>
              </a:p>
              <a:p>
                <a:pPr lvl="1"/>
                <a:r>
                  <a:rPr lang="zh-CN" altLang="zh-CN" b="1" dirty="0"/>
                  <a:t>双向过滤闭环</a:t>
                </a:r>
                <a:r>
                  <a:rPr lang="zh-CN" altLang="zh-CN" dirty="0"/>
                  <a:t>：在 TxToken 补齐出站流量拦截，达成全链路安全防护。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63F141-F1BE-6240-0D37-003253CC1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433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8B9A29E-DD53-0AE9-28C8-753662F7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5" y="2880360"/>
            <a:ext cx="10515600" cy="1097280"/>
          </a:xfrm>
        </p:spPr>
        <p:txBody>
          <a:bodyPr/>
          <a:lstStyle/>
          <a:p>
            <a:pPr algn="ctr"/>
            <a:r>
              <a:rPr lang="zh-CN" altLang="en-US" dirty="0"/>
              <a:t>感谢倾听，恳请老师批评指正！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391872928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1435</Words>
  <Application>Microsoft Office PowerPoint</Application>
  <PresentationFormat>宽屏</PresentationFormat>
  <Paragraphs>71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Google Sans Text</vt:lpstr>
      <vt:lpstr>Arial</vt:lpstr>
      <vt:lpstr>Calibri</vt:lpstr>
      <vt:lpstr>WPS</vt:lpstr>
      <vt:lpstr>基于 ArceOS 的轻量级高性能防火墙 (axfirewall) 中期进展报告</vt:lpstr>
      <vt:lpstr>课题背景与痛点</vt:lpstr>
      <vt:lpstr>整体架构与设计亮点</vt:lpstr>
      <vt:lpstr>核心算法——LBVS 与 Early-Break 机制</vt:lpstr>
      <vt:lpstr>实验一——规则规模扩展性基准对比</vt:lpstr>
      <vt:lpstr>实验二——Early-Break 短路与端到端拦截验证</vt:lpstr>
      <vt:lpstr>后半期工作规划与总结</vt:lpstr>
      <vt:lpstr>感谢倾听，恳请老师批评指正！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李悠然</dc:creator>
  <cp:lastModifiedBy>悠然 李</cp:lastModifiedBy>
  <cp:revision>16</cp:revision>
  <dcterms:created xsi:type="dcterms:W3CDTF">2023-08-09T12:44:55Z</dcterms:created>
  <dcterms:modified xsi:type="dcterms:W3CDTF">2026-10-10T14:53:41Z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